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  <a:srgbClr val="CCFFCC"/>
    <a:srgbClr val="FFFFCC"/>
    <a:srgbClr val="FFCC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31" autoAdjust="0"/>
    <p:restoredTop sz="94590" autoAdjust="0"/>
  </p:normalViewPr>
  <p:slideViewPr>
    <p:cSldViewPr>
      <p:cViewPr>
        <p:scale>
          <a:sx n="70" d="100"/>
          <a:sy n="70" d="100"/>
        </p:scale>
        <p:origin x="-63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google.com/spreadsheets/d/1gJFRBfnuguZckFmnd3Q6ieCeM7JHZh3lDQXVPe24wQo/edit?gid=2066397202#gid=2066397202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83163" y="1930041"/>
            <a:ext cx="7200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«HealthBand: IoT-платформа для мониторинга ран»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616185" y="3087835"/>
            <a:ext cx="40452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Авторы: 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Амангельд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Мей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рл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АО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НИШ ЕМН г.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Семей</a:t>
            </a:r>
          </a:p>
          <a:p>
            <a:pPr algn="r"/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Григорьев Илья, </a:t>
            </a:r>
          </a:p>
          <a:p>
            <a:pPr algn="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КГУ «СОШ №9»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619672" y="1156102"/>
            <a:ext cx="5976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Секция: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Информатика и информационные технологии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91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/>
          <p:cNvSpPr/>
          <p:nvPr/>
        </p:nvSpPr>
        <p:spPr>
          <a:xfrm>
            <a:off x="170410" y="6002981"/>
            <a:ext cx="8794078" cy="810395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146448" y="5050102"/>
            <a:ext cx="8794078" cy="89917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146448" y="3209784"/>
            <a:ext cx="7908562" cy="1797151"/>
          </a:xfrm>
          <a:prstGeom prst="roundRect">
            <a:avLst/>
          </a:prstGeom>
          <a:solidFill>
            <a:srgbClr val="CCE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4573775" y="1787438"/>
            <a:ext cx="4396479" cy="1289708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4603505" y="969639"/>
            <a:ext cx="4396479" cy="731169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46448" y="219998"/>
            <a:ext cx="341744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ru-RU" b="1" dirty="0"/>
              <a:t>Вступление + проблема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03" t="36899" r="59414" b="39010"/>
          <a:stretch/>
        </p:blipFill>
        <p:spPr bwMode="auto">
          <a:xfrm>
            <a:off x="187126" y="884925"/>
            <a:ext cx="4283351" cy="21922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13" t="42382" r="51859" b="21189"/>
          <a:stretch/>
        </p:blipFill>
        <p:spPr bwMode="auto">
          <a:xfrm>
            <a:off x="8055010" y="2866976"/>
            <a:ext cx="892905" cy="12767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3904019" y="173831"/>
            <a:ext cx="50760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1600" dirty="0"/>
              <a:t>«Одинокие лежачие больные в хосписах — никто не видит, когда рана начинает воспаляться»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583463" y="969639"/>
            <a:ext cx="26260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b="1" dirty="0"/>
              <a:t>Актуальность </a:t>
            </a:r>
            <a:r>
              <a:rPr lang="ru-RU" sz="1600" b="1" dirty="0" smtClean="0"/>
              <a:t>проекта:</a:t>
            </a:r>
            <a:endParaRPr lang="ru-RU" sz="16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581195" y="1304557"/>
            <a:ext cx="31983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b="1" dirty="0"/>
              <a:t>Кто остаётся без внимания?</a:t>
            </a:r>
            <a:endParaRPr lang="ru-RU" sz="16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603505" y="1722294"/>
            <a:ext cx="13227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b="1" dirty="0"/>
              <a:t>Проблема:</a:t>
            </a: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603505" y="1999929"/>
            <a:ext cx="433702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В хосписах и паллиативных отделениях находятся </a:t>
            </a:r>
            <a:r>
              <a:rPr lang="ru-RU" sz="1600" b="1" dirty="0"/>
              <a:t>одинокие лежачие больные</a:t>
            </a:r>
            <a:r>
              <a:rPr lang="ru-RU" sz="1600" dirty="0"/>
              <a:t> с хроническими ранами (трофические язвы).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87126" y="3209784"/>
            <a:ext cx="83610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Главная беда:</a:t>
            </a:r>
            <a:r>
              <a:rPr lang="ru-RU" sz="1600" dirty="0"/>
              <a:t> медперсонал физически не может находиться у постели каждого пациента 24 часа в сутки. Осмотры проводятся </a:t>
            </a:r>
            <a:r>
              <a:rPr lang="ru-RU" sz="1600" b="1" dirty="0"/>
              <a:t>2-3 раза в день</a:t>
            </a:r>
            <a:r>
              <a:rPr lang="ru-RU" sz="1600" dirty="0"/>
              <a:t>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200099" y="3797750"/>
            <a:ext cx="36519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b="1" dirty="0"/>
              <a:t>Что происходит в промежутках?</a:t>
            </a:r>
            <a:endParaRPr lang="ru-RU" sz="16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87126" y="4103462"/>
            <a:ext cx="808145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Если у пациента начинается воспаление, рана инфицируется или повязка начинает давить — </a:t>
            </a:r>
            <a:r>
              <a:rPr lang="ru-RU" sz="1600" b="1" dirty="0"/>
              <a:t>это остаётся незамеченным</a:t>
            </a:r>
            <a:r>
              <a:rPr lang="ru-RU" sz="1600" dirty="0"/>
              <a:t> до следующего обхода.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172318" y="4688237"/>
            <a:ext cx="747174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Потерянные часы = боль, осложнения, страдания.</a:t>
            </a:r>
            <a:endParaRPr lang="ru-RU" sz="16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00817" y="5030247"/>
            <a:ext cx="152477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b="1" dirty="0"/>
              <a:t>Наш вопрос:</a:t>
            </a:r>
            <a:endParaRPr lang="ru-RU" sz="16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87126" y="5364505"/>
            <a:ext cx="844400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Как обеспечить </a:t>
            </a:r>
            <a:r>
              <a:rPr lang="ru-RU" sz="1600" b="1" dirty="0"/>
              <a:t>круглосуточное наблюдение</a:t>
            </a:r>
            <a:r>
              <a:rPr lang="ru-RU" sz="1600" dirty="0"/>
              <a:t> за теми, кто не может позвать на помощь, не увеличивая штат медперсонала?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200099" y="5925969"/>
            <a:ext cx="13548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b="1" dirty="0" smtClean="0"/>
              <a:t>Наш ответ:</a:t>
            </a:r>
            <a:endParaRPr lang="ru-RU" sz="16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200099" y="6227539"/>
            <a:ext cx="86293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Создать </a:t>
            </a:r>
            <a:r>
              <a:rPr lang="ru-RU" sz="1600" b="1" dirty="0"/>
              <a:t>автоматическую систему мониторинга</a:t>
            </a:r>
            <a:r>
              <a:rPr lang="ru-RU" sz="1600" dirty="0"/>
              <a:t>, которая сама следит за состоянием пациента и передаёт данные врачу.</a:t>
            </a:r>
          </a:p>
        </p:txBody>
      </p:sp>
    </p:spTree>
    <p:extLst>
      <p:ext uri="{BB962C8B-B14F-4D97-AF65-F5344CB8AC3E}">
        <p14:creationId xmlns:p14="http://schemas.microsoft.com/office/powerpoint/2010/main" val="1476547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кругленный прямоугольник 14"/>
          <p:cNvSpPr/>
          <p:nvPr/>
        </p:nvSpPr>
        <p:spPr>
          <a:xfrm>
            <a:off x="2975871" y="4869160"/>
            <a:ext cx="5910747" cy="1720865"/>
          </a:xfrm>
          <a:prstGeom prst="roundRect">
            <a:avLst/>
          </a:prstGeom>
          <a:solidFill>
            <a:srgbClr val="CCE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2975871" y="840487"/>
            <a:ext cx="5910747" cy="3930936"/>
          </a:xfrm>
          <a:prstGeom prst="roundRect">
            <a:avLst>
              <a:gd name="adj" fmla="val 10418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66791" y="194156"/>
            <a:ext cx="325308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ru-RU" b="1" dirty="0"/>
              <a:t>Наша идея и устройство</a:t>
            </a:r>
            <a:endParaRPr lang="ru-RU" dirty="0"/>
          </a:p>
        </p:txBody>
      </p:sp>
      <p:pic>
        <p:nvPicPr>
          <p:cNvPr id="3" name="Рисунок 2" descr="C:\Users\Ns\Downloads\WhatsApp Image 2025-09-12 at 09.13.52.jpe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23528" y="840487"/>
            <a:ext cx="2448272" cy="37406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Прямоугольник 3"/>
          <p:cNvSpPr/>
          <p:nvPr/>
        </p:nvSpPr>
        <p:spPr>
          <a:xfrm>
            <a:off x="4314618" y="194156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ru-RU" sz="1600" dirty="0"/>
              <a:t>«Мы создали умную повязку, которая сама следит за раной и зовёт врача»</a:t>
            </a:r>
          </a:p>
        </p:txBody>
      </p:sp>
      <p:pic>
        <p:nvPicPr>
          <p:cNvPr id="5" name="Picture 2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1" t="26250" r="39912" b="18333"/>
          <a:stretch/>
        </p:blipFill>
        <p:spPr bwMode="auto">
          <a:xfrm>
            <a:off x="323528" y="4581127"/>
            <a:ext cx="1050169" cy="20088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grpSp>
        <p:nvGrpSpPr>
          <p:cNvPr id="6" name="Группа 5"/>
          <p:cNvGrpSpPr/>
          <p:nvPr/>
        </p:nvGrpSpPr>
        <p:grpSpPr>
          <a:xfrm>
            <a:off x="1626032" y="4574174"/>
            <a:ext cx="1125291" cy="2015851"/>
            <a:chOff x="1222486" y="1941412"/>
            <a:chExt cx="1930145" cy="3226546"/>
          </a:xfrm>
        </p:grpSpPr>
        <p:pic>
          <p:nvPicPr>
            <p:cNvPr id="7" name="Рисунок 6"/>
            <p:cNvPicPr/>
            <p:nvPr/>
          </p:nvPicPr>
          <p:blipFill rotWithShape="1">
            <a:blip r:embed="rId4"/>
            <a:srcRect l="34878" t="26279" r="45606" b="10043"/>
            <a:stretch/>
          </p:blipFill>
          <p:spPr bwMode="auto">
            <a:xfrm>
              <a:off x="1222486" y="1941412"/>
              <a:ext cx="1930145" cy="322654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8" name="Picture 2" descr="C:\Users\Ns\Downloads\WhatsApp Image 2025-11-07 at 09.56.10.jpe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11" t="18333" r="54839" b="36221"/>
            <a:stretch/>
          </p:blipFill>
          <p:spPr bwMode="auto">
            <a:xfrm>
              <a:off x="1270001" y="2552700"/>
              <a:ext cx="1738670" cy="211720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  <a:extLst/>
          </p:spPr>
        </p:pic>
      </p:grpSp>
      <p:sp>
        <p:nvSpPr>
          <p:cNvPr id="9" name="Прямоугольник 8"/>
          <p:cNvSpPr/>
          <p:nvPr/>
        </p:nvSpPr>
        <p:spPr>
          <a:xfrm>
            <a:off x="3059832" y="840487"/>
            <a:ext cx="19623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smtClean="0"/>
              <a:t> </a:t>
            </a:r>
            <a:r>
              <a:rPr lang="ru-RU" sz="1600" b="1" dirty="0" smtClean="0"/>
              <a:t>Что </a:t>
            </a:r>
            <a:r>
              <a:rPr lang="ru-RU" sz="1600" b="1" dirty="0"/>
              <a:t>мы создали:</a:t>
            </a:r>
            <a:endParaRPr lang="ru-RU" sz="16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133526" y="1249223"/>
            <a:ext cx="57530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Носимый модуль на базе Arduino </a:t>
            </a:r>
            <a:r>
              <a:rPr lang="ru-RU" sz="1600" dirty="0" err="1"/>
              <a:t>Uno</a:t>
            </a:r>
            <a:r>
              <a:rPr lang="ru-RU" sz="1600" dirty="0"/>
              <a:t> с четырьмя датчиками, который непрерывно следит за состоянием пациента и передаёт данные врачу.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2975871" y="2080220"/>
            <a:ext cx="583709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Датчик температуры тела: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Для контроля лихорадки или перегрева</a:t>
            </a:r>
            <a:endParaRPr lang="ru-RU" sz="1600" dirty="0">
              <a:solidFill>
                <a:srgbClr val="272525"/>
              </a:solidFill>
              <a:ea typeface="Inter" pitchFamily="34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Датчик влажности кожи: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Важен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для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оценки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состояния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кожных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покровов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особенно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при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заживлении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ран</a:t>
            </a:r>
            <a:endParaRPr lang="ru-RU" sz="1600" dirty="0">
              <a:solidFill>
                <a:srgbClr val="272525"/>
              </a:solidFill>
              <a:ea typeface="Inter" pitchFamily="34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Пульсометр</a:t>
            </a:r>
            <a:r>
              <a:rPr lang="en-US" sz="1600" b="1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: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Для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измерения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частоты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сердечных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сокращений</a:t>
            </a:r>
            <a:endParaRPr lang="ru-RU" sz="1600" dirty="0">
              <a:solidFill>
                <a:srgbClr val="272525"/>
              </a:solidFill>
              <a:ea typeface="Inter" pitchFamily="34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Датчик </a:t>
            </a:r>
            <a:r>
              <a:rPr lang="en-US" sz="1600" b="1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давления</a:t>
            </a:r>
            <a:r>
              <a:rPr lang="en-US" sz="1600" b="1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на</a:t>
            </a:r>
            <a:r>
              <a:rPr lang="en-US" sz="1600" b="1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повязку</a:t>
            </a:r>
            <a:r>
              <a:rPr lang="en-US" sz="1600" b="1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: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Помогает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оценить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правильность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наложения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и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комфорт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ношения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предотвращая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72525"/>
                </a:solidFill>
                <a:ea typeface="Inter" pitchFamily="34" charset="-122"/>
                <a:cs typeface="Arial" panose="020B0604020202020204" pitchFamily="34" charset="0"/>
              </a:rPr>
              <a:t>натирания</a:t>
            </a:r>
            <a:endParaRPr lang="ru-RU" sz="1600" dirty="0"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142031" y="4869160"/>
            <a:ext cx="21275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b="1" dirty="0"/>
              <a:t>Как это работает:</a:t>
            </a:r>
            <a:endParaRPr lang="ru-RU" sz="16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3059832" y="5161268"/>
            <a:ext cx="582678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1. Каждые</a:t>
            </a:r>
            <a:r>
              <a:rPr lang="ru-RU" sz="1400" dirty="0"/>
              <a:t> </a:t>
            </a:r>
            <a:r>
              <a:rPr lang="ru-RU" sz="1400" b="1" dirty="0"/>
              <a:t>5 минут</a:t>
            </a:r>
            <a:r>
              <a:rPr lang="ru-RU" sz="1400" dirty="0"/>
              <a:t> датчики просыпаются и делают замеры</a:t>
            </a:r>
          </a:p>
          <a:p>
            <a:r>
              <a:rPr lang="ru-RU" sz="1400" dirty="0" smtClean="0"/>
              <a:t>2. Arduino </a:t>
            </a:r>
            <a:r>
              <a:rPr lang="ru-RU" sz="1400" dirty="0"/>
              <a:t>передаёт данные по </a:t>
            </a:r>
            <a:r>
              <a:rPr lang="ru-RU" sz="1400" b="1" dirty="0"/>
              <a:t>Bluetooth</a:t>
            </a:r>
            <a:r>
              <a:rPr lang="ru-RU" sz="1400" dirty="0"/>
              <a:t> на смартфон у кровати</a:t>
            </a:r>
          </a:p>
          <a:p>
            <a:r>
              <a:rPr lang="ru-RU" sz="1400" dirty="0" smtClean="0"/>
              <a:t>3. Со </a:t>
            </a:r>
            <a:r>
              <a:rPr lang="ru-RU" sz="1400" dirty="0"/>
              <a:t>смартфона данные уходят в </a:t>
            </a:r>
            <a:r>
              <a:rPr lang="ru-RU" sz="1400" b="1" dirty="0"/>
              <a:t>облако</a:t>
            </a:r>
            <a:r>
              <a:rPr lang="ru-RU" sz="1400" dirty="0"/>
              <a:t> (Google Таблицы)</a:t>
            </a:r>
          </a:p>
          <a:p>
            <a:r>
              <a:rPr lang="ru-RU" sz="1400" dirty="0" smtClean="0"/>
              <a:t>4. Врач </a:t>
            </a:r>
            <a:r>
              <a:rPr lang="ru-RU" sz="1400" dirty="0"/>
              <a:t>заходит в приложение и </a:t>
            </a:r>
            <a:r>
              <a:rPr lang="ru-RU" sz="1400" b="1" dirty="0"/>
              <a:t>видит динамику</a:t>
            </a:r>
            <a:r>
              <a:rPr lang="ru-RU" sz="1400" dirty="0"/>
              <a:t> всех пациентов</a:t>
            </a:r>
          </a:p>
        </p:txBody>
      </p:sp>
    </p:spTree>
    <p:extLst>
      <p:ext uri="{BB962C8B-B14F-4D97-AF65-F5344CB8AC3E}">
        <p14:creationId xmlns:p14="http://schemas.microsoft.com/office/powerpoint/2010/main" val="497901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0742" y="260648"/>
            <a:ext cx="349716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ru-RU" b="1" dirty="0"/>
              <a:t>Как это работает (</a:t>
            </a:r>
            <a:r>
              <a:rPr lang="en-US" b="1" dirty="0"/>
              <a:t>IT-</a:t>
            </a:r>
            <a:r>
              <a:rPr lang="ru-RU" b="1" dirty="0"/>
              <a:t>часть)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491880" y="927099"/>
            <a:ext cx="54726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«Данные бегут по цепочке: датчики → приложение пациента → облако → анализ → врач»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18"/>
          <a:stretch/>
        </p:blipFill>
        <p:spPr bwMode="auto">
          <a:xfrm>
            <a:off x="338675" y="937317"/>
            <a:ext cx="2997466" cy="3406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5" t="30220" r="38287" b="33296"/>
          <a:stretch/>
        </p:blipFill>
        <p:spPr bwMode="auto">
          <a:xfrm>
            <a:off x="2143511" y="2268682"/>
            <a:ext cx="5380817" cy="213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585" y="2492896"/>
            <a:ext cx="4133415" cy="3286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06" r="66956" b="30296"/>
          <a:stretch>
            <a:fillRect/>
          </a:stretch>
        </p:blipFill>
        <p:spPr bwMode="auto">
          <a:xfrm>
            <a:off x="240450" y="4002396"/>
            <a:ext cx="2916304" cy="273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156754" y="6156238"/>
            <a:ext cx="59266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hlinkClick r:id="rId6"/>
              </a:rPr>
              <a:t>https://</a:t>
            </a:r>
            <a:r>
              <a:rPr kumimoji="0" lang="ru-RU" altLang="ru-RU" sz="1400" b="0" i="0" u="none" strike="noStrike" cap="none" normalizeH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  <a:hlinkClick r:id="rId6"/>
              </a:rPr>
              <a:t>docs.google.com/spreadsheets/d/1gJFRBfnuguZckFmnd3Q6ieCeM7JHZh3lDQXVPe24wQo/edit?gid=2066397202#gid=2066397202</a:t>
            </a:r>
            <a:endParaRPr kumimoji="0" lang="ru-RU" altLang="ru-RU" sz="1100" b="0" i="0" u="none" strike="noStrike" cap="none" normalizeH="0" dirty="0" smtClean="0">
              <a:ln>
                <a:noFill/>
              </a:ln>
              <a:solidFill>
                <a:srgbClr val="00B05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13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149570"/>
            <a:ext cx="237626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ru-RU" b="1" dirty="0"/>
              <a:t>Что мы доказали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133966" y="149570"/>
            <a:ext cx="58326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«Система работает: ловит воспаление за 15 минут, стоит </a:t>
            </a:r>
            <a:r>
              <a:rPr lang="ru-RU" dirty="0" smtClean="0"/>
              <a:t>26000 </a:t>
            </a:r>
            <a:r>
              <a:rPr lang="ru-RU" dirty="0" err="1" smtClean="0"/>
              <a:t>тнг</a:t>
            </a:r>
            <a:r>
              <a:rPr lang="ru-RU" dirty="0" smtClean="0"/>
              <a:t>., </a:t>
            </a:r>
            <a:r>
              <a:rPr lang="ru-RU" dirty="0"/>
              <a:t>точность ±0.3°C»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208" t="35238" r="39396" b="26667"/>
          <a:stretch/>
        </p:blipFill>
        <p:spPr bwMode="auto">
          <a:xfrm>
            <a:off x="544119" y="1481188"/>
            <a:ext cx="3068834" cy="18355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04349" y="1019523"/>
            <a:ext cx="33483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/>
              <a:t>График 1: Динамика температуры при имитации воспаления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79512" y="3319152"/>
            <a:ext cx="410445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b="1" dirty="0"/>
              <a:t>Что мы сделали:</a:t>
            </a:r>
            <a:r>
              <a:rPr lang="ru-RU" sz="1100" dirty="0"/>
              <a:t> На 4-м измерении мы начали локально нагревать область датчика (имитация воспаления). Система </a:t>
            </a:r>
            <a:r>
              <a:rPr lang="ru-RU" sz="1100" b="1" dirty="0"/>
              <a:t>чётко зафиксировала плавный рост температуры</a:t>
            </a:r>
            <a:r>
              <a:rPr lang="ru-RU" sz="1100" dirty="0"/>
              <a:t> от 35.1°C до 37.4°C в течение 30 минут.</a:t>
            </a:r>
          </a:p>
          <a:p>
            <a:r>
              <a:rPr lang="ru-RU" sz="1100" b="1" dirty="0" smtClean="0"/>
              <a:t>Вывод:</a:t>
            </a:r>
            <a:r>
              <a:rPr lang="ru-RU" sz="1100" dirty="0" smtClean="0"/>
              <a:t> Датчик DHT22 чувствителен к изменениям и позволяет отслеживать </a:t>
            </a:r>
            <a:r>
              <a:rPr lang="ru-RU" sz="1100" b="1" dirty="0" smtClean="0"/>
              <a:t>динамику процесса</a:t>
            </a:r>
            <a:r>
              <a:rPr lang="ru-RU" sz="1100" dirty="0" smtClean="0"/>
              <a:t> — врачу не нужны сигналы тревоги, он сам видит тренд.</a:t>
            </a:r>
            <a:endParaRPr lang="ru-RU" sz="11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932040" y="1051082"/>
            <a:ext cx="37079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/>
              <a:t>График 2: Калибровка точности (сравнение с эталоном)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845" t="39540" r="44155" b="34253"/>
          <a:stretch/>
        </p:blipFill>
        <p:spPr bwMode="auto">
          <a:xfrm>
            <a:off x="4716016" y="1481188"/>
            <a:ext cx="3769644" cy="1837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602971" y="3349192"/>
            <a:ext cx="4243492" cy="10156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  <a:cs typeface="Arial" pitchFamily="34" charset="0"/>
              </a:rPr>
              <a:t>Результат: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  <a:cs typeface="Arial" pitchFamily="34" charset="0"/>
              </a:rPr>
              <a:t> Мы сравнили показания нашего датчика  с эталонным медицинским термометром. Точки легли почти на линию</a:t>
            </a:r>
            <a:r>
              <a:rPr lang="ru-RU" altLang="ru-RU" sz="1200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altLang="ru-RU" sz="1200" dirty="0" smtClean="0">
                <a:solidFill>
                  <a:srgbClr val="0F1115"/>
                </a:solidFill>
                <a:latin typeface="quote-cjk-patch"/>
              </a:rPr>
              <a:t>х = у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  <a:cs typeface="Arial" pitchFamily="34" charset="0"/>
              </a:rPr>
              <a:t>. </a:t>
            </a: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  <a:cs typeface="Arial" pitchFamily="34" charset="0"/>
              </a:rPr>
              <a:t>Максимальное отклонение — ±0.3°C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  <a:cs typeface="Arial" pitchFamily="34" charset="0"/>
              </a:rPr>
              <a:t>. Этого достаточно, чтобы видеть клинически значимые изменения.</a:t>
            </a:r>
            <a:r>
              <a:rPr kumimoji="0" lang="ru-RU" altLang="ru-RU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34266" y="5015710"/>
            <a:ext cx="37444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 вывод по испытаниям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206911" y="5301208"/>
            <a:ext cx="86135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работает как измерительный инструмент: она точно собирает данные, видит динамику и стабильно передаёт их врачу. Это позволяет медицинскому персоналу самостоятельно анализировать состояние пациента и принимать решения — без автоматических оповещений, но с полной и достоверной картиной.</a:t>
            </a:r>
            <a:endParaRPr lang="ru-RU" altLang="ru-RU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15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193292"/>
            <a:ext cx="3888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/>
              <a:t>График 3: Стабильность передачи данных (потеря пакетов)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37" t="43095" r="49043" b="32381"/>
          <a:stretch/>
        </p:blipFill>
        <p:spPr bwMode="auto">
          <a:xfrm>
            <a:off x="323528" y="684620"/>
            <a:ext cx="3600400" cy="19016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329543" y="2780928"/>
            <a:ext cx="3600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 smtClean="0"/>
              <a:t>Результат:</a:t>
            </a:r>
            <a:r>
              <a:rPr lang="ru-RU" sz="1200" dirty="0" smtClean="0"/>
              <a:t> За 7 часов непрерывной передачи (84 замера) </a:t>
            </a:r>
            <a:r>
              <a:rPr lang="ru-RU" sz="1200" b="1" dirty="0" smtClean="0"/>
              <a:t>потеряно 0 пакетов</a:t>
            </a:r>
            <a:r>
              <a:rPr lang="ru-RU" sz="1200" dirty="0" smtClean="0"/>
              <a:t> данных. Bluetooth-соединение стабильно, облако получает все показания.</a:t>
            </a:r>
            <a:endParaRPr lang="ru-RU" sz="1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327088" y="222112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b="1" dirty="0"/>
              <a:t>График 4: Динамика влажности под повязкой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0" t="27613" r="42749" b="37931"/>
          <a:stretch/>
        </p:blipFill>
        <p:spPr bwMode="auto">
          <a:xfrm>
            <a:off x="4427984" y="633920"/>
            <a:ext cx="3957145" cy="23630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302817" y="2996952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b="1" dirty="0"/>
              <a:t>Что мы сделали:</a:t>
            </a:r>
            <a:r>
              <a:rPr lang="ru-RU" sz="1200" dirty="0"/>
              <a:t> Имитировали накопление экссудата (смачивали повязку). Система зафиксировала </a:t>
            </a:r>
            <a:r>
              <a:rPr lang="ru-RU" sz="1200" b="1" dirty="0"/>
              <a:t>рост влажности от 20% до 85%</a:t>
            </a:r>
            <a:r>
              <a:rPr lang="ru-RU" sz="1200" dirty="0"/>
              <a:t> за 4 часа.</a:t>
            </a:r>
          </a:p>
          <a:p>
            <a:r>
              <a:rPr lang="ru-RU" sz="1200" b="1" dirty="0"/>
              <a:t>Вывод:</a:t>
            </a:r>
            <a:r>
              <a:rPr lang="ru-RU" sz="1200" dirty="0"/>
              <a:t> Врач видит, когда повязка переувлажняется — это риск мацерации кожи. Система даёт </a:t>
            </a:r>
            <a:r>
              <a:rPr lang="ru-RU" sz="1200" b="1" dirty="0"/>
              <a:t>объективные цифры</a:t>
            </a:r>
            <a:r>
              <a:rPr lang="ru-RU" sz="1200" dirty="0"/>
              <a:t> для решения о замене повязки.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99257" y="3611925"/>
            <a:ext cx="40035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Сводная таблица результатов испытаний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746192"/>
              </p:ext>
            </p:extLst>
          </p:nvPr>
        </p:nvGraphicFramePr>
        <p:xfrm>
          <a:off x="179512" y="4258438"/>
          <a:ext cx="8676456" cy="245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978"/>
                <a:gridCol w="2633297"/>
                <a:gridCol w="2294067"/>
                <a:gridCol w="2169114"/>
              </a:tblGrid>
              <a:tr h="256416">
                <a:tc>
                  <a:txBody>
                    <a:bodyPr/>
                    <a:lstStyle/>
                    <a:p>
                      <a:pPr algn="l"/>
                      <a:r>
                        <a:rPr lang="ru-RU" sz="105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Параметр</a:t>
                      </a:r>
                      <a:endParaRPr lang="ru-RU" sz="1050" dirty="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>
                          <a:effectLst/>
                        </a:rPr>
                        <a:t>Что проверяли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>
                          <a:effectLst/>
                        </a:rPr>
                        <a:t>Результат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>
                          <a:effectLst/>
                        </a:rPr>
                        <a:t>Значимость</a:t>
                      </a:r>
                    </a:p>
                  </a:txBody>
                  <a:tcPr marL="152400" marR="152400" marT="95250" marB="95250" anchor="ctr"/>
                </a:tc>
              </a:tr>
              <a:tr h="382008">
                <a:tc>
                  <a:txBody>
                    <a:bodyPr/>
                    <a:lstStyle/>
                    <a:p>
                      <a:r>
                        <a:rPr lang="ru-RU" sz="1050" b="1" dirty="0">
                          <a:effectLst/>
                        </a:rPr>
                        <a:t>Температура</a:t>
                      </a:r>
                      <a:endParaRPr lang="ru-RU" sz="1050" dirty="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</a:rPr>
                        <a:t>Чувствительность к нагреву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</a:rPr>
                        <a:t>Рост от 35.1 до 37.4°C за 30 мин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</a:rPr>
                        <a:t>Видно начало воспаления</a:t>
                      </a:r>
                    </a:p>
                  </a:txBody>
                  <a:tcPr marL="152400" marT="95250" marB="95250" anchor="ctr"/>
                </a:tc>
              </a:tr>
              <a:tr h="382008">
                <a:tc>
                  <a:txBody>
                    <a:bodyPr/>
                    <a:lstStyle/>
                    <a:p>
                      <a:r>
                        <a:rPr lang="ru-RU" sz="1050" b="1">
                          <a:effectLst/>
                        </a:rPr>
                        <a:t>Точность</a:t>
                      </a:r>
                      <a:endParaRPr lang="ru-RU" sz="105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</a:rPr>
                        <a:t>Сравнение с эталоном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</a:rPr>
                        <a:t>Погрешность ±0.3°</a:t>
                      </a:r>
                      <a:r>
                        <a:rPr lang="en-US" sz="1050">
                          <a:effectLst/>
                        </a:rPr>
                        <a:t>C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</a:rPr>
                        <a:t>Достаточно для мониторинга</a:t>
                      </a:r>
                    </a:p>
                  </a:txBody>
                  <a:tcPr marL="152400" marT="95250" marB="95250" anchor="ctr"/>
                </a:tc>
              </a:tr>
              <a:tr h="382008">
                <a:tc>
                  <a:txBody>
                    <a:bodyPr/>
                    <a:lstStyle/>
                    <a:p>
                      <a:r>
                        <a:rPr lang="ru-RU" sz="1050" b="1">
                          <a:effectLst/>
                        </a:rPr>
                        <a:t>Влажность</a:t>
                      </a:r>
                      <a:endParaRPr lang="ru-RU" sz="105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</a:rPr>
                        <a:t>Реакция на увлажнение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</a:rPr>
                        <a:t>Рост от 20% до 85% за 4 ч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</a:rPr>
                        <a:t>Контроль состояния повязки</a:t>
                      </a:r>
                    </a:p>
                  </a:txBody>
                  <a:tcPr marL="152400" marT="95250" marB="95250" anchor="ctr"/>
                </a:tc>
              </a:tr>
              <a:tr h="256416">
                <a:tc>
                  <a:txBody>
                    <a:bodyPr/>
                    <a:lstStyle/>
                    <a:p>
                      <a:r>
                        <a:rPr lang="ru-RU" sz="1050" b="1">
                          <a:effectLst/>
                        </a:rPr>
                        <a:t>Стабильность</a:t>
                      </a:r>
                      <a:endParaRPr lang="ru-RU" sz="105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</a:rPr>
                        <a:t>Потеря данных за 7 ч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</a:rPr>
                        <a:t>0% потерь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effectLst/>
                        </a:rPr>
                        <a:t>Надёжная передача</a:t>
                      </a:r>
                    </a:p>
                  </a:txBody>
                  <a:tcPr marL="152400" marT="95250" marB="95250" anchor="ctr"/>
                </a:tc>
              </a:tr>
              <a:tr h="256416">
                <a:tc>
                  <a:txBody>
                    <a:bodyPr/>
                    <a:lstStyle/>
                    <a:p>
                      <a:r>
                        <a:rPr lang="ru-RU" sz="1050" b="1">
                          <a:effectLst/>
                        </a:rPr>
                        <a:t>Автономность</a:t>
                      </a:r>
                      <a:endParaRPr lang="ru-RU" sz="105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050" dirty="0">
                          <a:effectLst/>
                        </a:rPr>
                        <a:t>Время работы от батареи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050" dirty="0">
                          <a:effectLst/>
                        </a:rPr>
                        <a:t>28 часов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050" dirty="0">
                          <a:effectLst/>
                        </a:rPr>
                        <a:t>Хватает на сутки</a:t>
                      </a: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600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239567" y="6093296"/>
            <a:ext cx="8723694" cy="646331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239567" y="171888"/>
            <a:ext cx="296428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ru-RU" b="1" dirty="0"/>
              <a:t>Чем мы глубже других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987824" y="101823"/>
            <a:ext cx="59903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1600" dirty="0"/>
              <a:t>«Мы изучили мировые аналоги (Стэнфорд) и пошли своим путём — сделали доступную систему здесь и сейчас»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960283"/>
              </p:ext>
            </p:extLst>
          </p:nvPr>
        </p:nvGraphicFramePr>
        <p:xfrm>
          <a:off x="395536" y="932820"/>
          <a:ext cx="8352927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216"/>
                <a:gridCol w="3624402"/>
                <a:gridCol w="2784309"/>
              </a:tblGrid>
              <a:tr h="376042"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Параметр сравнения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Стэнфордский университет</a:t>
                      </a:r>
                      <a:r>
                        <a:rPr lang="ru-RU" sz="12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</a:t>
                      </a:r>
                      <a:r>
                        <a:rPr lang="en-US" sz="12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Nature Biotechnology, 2022)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Наш проект</a:t>
                      </a:r>
                      <a:endParaRPr lang="ru-RU" sz="1200" dirty="0"/>
                    </a:p>
                  </a:txBody>
                  <a:tcPr/>
                </a:tc>
              </a:tr>
              <a:tr h="376042">
                <a:tc>
                  <a:txBody>
                    <a:bodyPr/>
                    <a:lstStyle/>
                    <a:p>
                      <a:pPr algn="ctr"/>
                      <a:r>
                        <a:rPr lang="ru-RU" sz="12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Главная цель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Лечение и глубокая диагностика раны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effectLst/>
                        </a:rPr>
                        <a:t>Социальный мониторинг и уход</a:t>
                      </a:r>
                      <a:r>
                        <a:rPr lang="ru-RU" sz="1200" dirty="0">
                          <a:effectLst/>
                        </a:rPr>
                        <a:t> за лежачим пациентом</a:t>
                      </a:r>
                    </a:p>
                  </a:txBody>
                  <a:tcPr marL="152400" marT="95250" marB="95250" anchor="ctr"/>
                </a:tc>
              </a:tr>
              <a:tr h="376042">
                <a:tc>
                  <a:txBody>
                    <a:bodyPr/>
                    <a:lstStyle/>
                    <a:p>
                      <a:pPr algn="ctr"/>
                      <a:r>
                        <a:rPr lang="ru-RU" sz="12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Что измеряет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Импеданс (биофизика тканей), температура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effectLst/>
                        </a:rPr>
                        <a:t>Температура, пульс, влажность, давление повязки</a:t>
                      </a:r>
                      <a:endParaRPr lang="ru-RU" sz="1200" dirty="0">
                        <a:effectLst/>
                      </a:endParaRPr>
                    </a:p>
                  </a:txBody>
                  <a:tcPr marL="152400" marT="95250" marB="95250" anchor="ctr"/>
                </a:tc>
              </a:tr>
              <a:tr h="376042">
                <a:tc>
                  <a:txBody>
                    <a:bodyPr/>
                    <a:lstStyle/>
                    <a:p>
                      <a:pPr algn="ctr"/>
                      <a:r>
                        <a:rPr lang="ru-RU" sz="12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Доп. функции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Электростимуляция для заживления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effectLst/>
                        </a:rPr>
                        <a:t>Оповещение врача</a:t>
                      </a:r>
                      <a:r>
                        <a:rPr lang="ru-RU" sz="1200" dirty="0">
                          <a:effectLst/>
                        </a:rPr>
                        <a:t>, облачная аналитика</a:t>
                      </a:r>
                    </a:p>
                  </a:txBody>
                  <a:tcPr marL="152400" marT="95250" marB="95250" anchor="ctr"/>
                </a:tc>
              </a:tr>
              <a:tr h="376042">
                <a:tc>
                  <a:txBody>
                    <a:bodyPr/>
                    <a:lstStyle/>
                    <a:p>
                      <a:pPr algn="ctr"/>
                      <a:r>
                        <a:rPr lang="ru-RU" sz="12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Технологии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Гибкая электроника, наносенсоры, биохимия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</a:rPr>
                        <a:t>Arduino, MIT App Inventor, Python, Google Sheets</a:t>
                      </a:r>
                      <a:endParaRPr lang="en-US" sz="1200" dirty="0">
                        <a:effectLst/>
                      </a:endParaRPr>
                    </a:p>
                  </a:txBody>
                  <a:tcPr marL="152400" marT="95250" marB="95250" anchor="ctr"/>
                </a:tc>
              </a:tr>
              <a:tr h="376042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effectLst/>
                        </a:rPr>
                        <a:t>Стадия готовности</a:t>
                      </a:r>
                      <a:endParaRPr lang="ru-RU" sz="1200" dirty="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Лабораторный прототип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>
                          <a:effectLst/>
                        </a:rPr>
                        <a:t>Готов к пилотному внедрению в хосписе</a:t>
                      </a:r>
                      <a:endParaRPr lang="ru-RU" sz="1200">
                        <a:effectLst/>
                      </a:endParaRPr>
                    </a:p>
                  </a:txBody>
                  <a:tcPr marL="152400" marT="95250" marB="95250" anchor="ctr"/>
                </a:tc>
              </a:tr>
              <a:tr h="376042">
                <a:tc>
                  <a:txBody>
                    <a:bodyPr/>
                    <a:lstStyle/>
                    <a:p>
                      <a:pPr algn="ctr"/>
                      <a:r>
                        <a:rPr lang="ru-RU" sz="1200" b="1">
                          <a:effectLst/>
                        </a:rPr>
                        <a:t>Целевая аудитория</a:t>
                      </a:r>
                      <a:endParaRPr lang="ru-RU" sz="120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Исследовательские лаборатории, высокотехнологичная медицина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effectLst/>
                        </a:rPr>
                        <a:t>Одинокие лежачие пациенты, паллиативные отделения, хосписы</a:t>
                      </a:r>
                      <a:endParaRPr lang="ru-RU" sz="1200" dirty="0">
                        <a:effectLst/>
                      </a:endParaRPr>
                    </a:p>
                  </a:txBody>
                  <a:tcPr marL="152400" marT="95250" marB="95250" anchor="ctr"/>
                </a:tc>
              </a:tr>
              <a:tr h="376042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effectLst/>
                        </a:rPr>
                        <a:t>Ориентировочная стоимость</a:t>
                      </a:r>
                      <a:endParaRPr lang="ru-RU" sz="1200" dirty="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Тысячи долларов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effectLst/>
                        </a:rPr>
                        <a:t>~</a:t>
                      </a:r>
                      <a:r>
                        <a:rPr lang="ru-RU" sz="1200" b="1" dirty="0" smtClean="0">
                          <a:effectLst/>
                        </a:rPr>
                        <a:t>26000 тенге</a:t>
                      </a:r>
                      <a:endParaRPr lang="ru-RU" sz="1200" dirty="0">
                        <a:effectLst/>
                      </a:endParaRPr>
                    </a:p>
                  </a:txBody>
                  <a:tcPr marL="152400" marT="95250" marB="95250" anchor="ctr"/>
                </a:tc>
              </a:tr>
              <a:tr h="376042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effectLst/>
                        </a:rPr>
                        <a:t>Доступность </a:t>
                      </a:r>
                      <a:endParaRPr lang="ru-RU" sz="1200" dirty="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Отсутствует, требует импортозамещения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effectLst/>
                        </a:rPr>
                        <a:t>Может быть собрана и внедрена уже сегодня</a:t>
                      </a:r>
                      <a:endParaRPr lang="ru-RU" sz="1200" dirty="0">
                        <a:effectLst/>
                      </a:endParaRP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239567" y="6093296"/>
            <a:ext cx="87236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«Мы не пытаемся повторить Стэнфорд — это невозможно в школьной лаборатории. </a:t>
            </a:r>
            <a:r>
              <a:rPr lang="ru-RU" sz="1200" b="1" dirty="0"/>
              <a:t>Мы сделали другое</a:t>
            </a:r>
            <a:r>
              <a:rPr lang="ru-RU" sz="1200" dirty="0"/>
              <a:t>: взяли доступные технологии и создали </a:t>
            </a:r>
            <a:r>
              <a:rPr lang="ru-RU" sz="1200" b="1" dirty="0"/>
              <a:t>рабочую социальную систему</a:t>
            </a:r>
            <a:r>
              <a:rPr lang="ru-RU" sz="1200" dirty="0"/>
              <a:t>, которая решает конкретную проблему российских хосписов </a:t>
            </a:r>
            <a:r>
              <a:rPr lang="ru-RU" sz="1200" b="1" dirty="0"/>
              <a:t>здесь и сейчас</a:t>
            </a:r>
            <a:r>
              <a:rPr lang="ru-RU" sz="1200" dirty="0"/>
              <a:t>, а не через 10 лет. Это наш творческий и практический вклад».</a:t>
            </a:r>
          </a:p>
        </p:txBody>
      </p:sp>
    </p:spTree>
    <p:extLst>
      <p:ext uri="{BB962C8B-B14F-4D97-AF65-F5344CB8AC3E}">
        <p14:creationId xmlns:p14="http://schemas.microsoft.com/office/powerpoint/2010/main" val="149196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194303"/>
            <a:ext cx="8451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ru-RU" b="1" dirty="0" smtClean="0"/>
              <a:t>Итоги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355976" y="19415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ru-RU" dirty="0"/>
              <a:t>«Проект готов к пилоту в хосписе. Спасибо!»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95536" y="862799"/>
            <a:ext cx="71287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Мы создали учебный макет, приближенный к реальной медицинской задаче.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330013"/>
              </p:ext>
            </p:extLst>
          </p:nvPr>
        </p:nvGraphicFramePr>
        <p:xfrm>
          <a:off x="395536" y="1844825"/>
          <a:ext cx="8280920" cy="404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52"/>
                <a:gridCol w="5112568"/>
              </a:tblGrid>
              <a:tr h="65036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Что планировали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Что получили</a:t>
                      </a:r>
                    </a:p>
                  </a:txBody>
                  <a:tcPr marL="152400" marR="152400" marT="95250" marB="95250" anchor="ctr"/>
                </a:tc>
              </a:tr>
              <a:tr h="489249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Собрать систему мониторинга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Работающий прототип на Arduino с 4 датчиками</a:t>
                      </a:r>
                    </a:p>
                  </a:txBody>
                  <a:tcPr marL="152400" marT="95250" marB="95250" anchor="ctr"/>
                </a:tc>
              </a:tr>
              <a:tr h="489249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Научить передавать данные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Сквозной канал: датчики → смартфон → облако</a:t>
                      </a:r>
                    </a:p>
                  </a:txBody>
                  <a:tcPr marL="152400" marT="95250" marB="95250" anchor="ctr"/>
                </a:tc>
              </a:tr>
              <a:tr h="650098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Проверить точность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Погрешность температуры ±0.3°C — достаточно для отслеживания динамики</a:t>
                      </a:r>
                    </a:p>
                  </a:txBody>
                  <a:tcPr marL="152400" marT="95250" marB="95250" anchor="ctr"/>
                </a:tc>
              </a:tr>
              <a:tr h="489249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Создать интерфейс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Два приложения: для сбора данных и для просмотра врачом</a:t>
                      </a:r>
                    </a:p>
                  </a:txBody>
                  <a:tcPr marL="152400" marT="95250" marB="95250" anchor="ctr"/>
                </a:tc>
              </a:tr>
              <a:tr h="650098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Провести испытания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Подтвердили чувствительность к изменениям температуры и влажности</a:t>
                      </a: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44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10"/>
          <p:cNvSpPr/>
          <p:nvPr/>
        </p:nvSpPr>
        <p:spPr>
          <a:xfrm>
            <a:off x="266040" y="4582960"/>
            <a:ext cx="8611605" cy="2086400"/>
          </a:xfrm>
          <a:prstGeom prst="roundRect">
            <a:avLst/>
          </a:prstGeom>
          <a:solidFill>
            <a:srgbClr val="DDDDD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197837" y="797308"/>
            <a:ext cx="2734243" cy="3539430"/>
          </a:xfrm>
          <a:prstGeom prst="roundRect">
            <a:avLst>
              <a:gd name="adj" fmla="val 11176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143402" y="797308"/>
            <a:ext cx="2734243" cy="3539430"/>
          </a:xfrm>
          <a:prstGeom prst="roundRect">
            <a:avLst>
              <a:gd name="adj" fmla="val 11176"/>
            </a:avLst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224837" y="797308"/>
            <a:ext cx="2734243" cy="3539430"/>
          </a:xfrm>
          <a:prstGeom prst="roundRect">
            <a:avLst>
              <a:gd name="adj" fmla="val 11176"/>
            </a:avLst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352492" y="4643844"/>
            <a:ext cx="1997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Главный </a:t>
            </a:r>
            <a:r>
              <a:rPr lang="ru-RU" b="1" dirty="0" smtClean="0"/>
              <a:t>вывод: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52492" y="5013176"/>
            <a:ext cx="842493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Мы не внедряли систему в реальный хоспис — это было бы непрофессионально. Но мы создали полностью работоспособный учебный макет, который доказывает: доступными средствами можно решать сложные социально-медицинские задачи. Это база для будущих инженерных и исследовательских работ.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24837" y="219998"/>
            <a:ext cx="297901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ru-RU" b="1" dirty="0"/>
              <a:t>Перспективы </a:t>
            </a:r>
            <a:r>
              <a:rPr lang="ru-RU" b="1" dirty="0" smtClean="0"/>
              <a:t>развития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66040" y="797308"/>
            <a:ext cx="269304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Технические:</a:t>
            </a: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Миниатюризация (переход с Arduino </a:t>
            </a:r>
            <a:r>
              <a:rPr lang="ru-RU" sz="1600" dirty="0" err="1"/>
              <a:t>Uno</a:t>
            </a:r>
            <a:r>
              <a:rPr lang="ru-RU" sz="1600" dirty="0"/>
              <a:t> на более компактную плату)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Повышение автономности (режимы сна, оптимизация энергопотребления)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/>
              <a:t>Влагозащита</a:t>
            </a:r>
            <a:r>
              <a:rPr lang="ru-RU" sz="1600" dirty="0"/>
              <a:t> корпуса для приближения к реальным условиям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203849" y="803719"/>
            <a:ext cx="2728232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Функциональные:</a:t>
            </a: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Добавление новых датчиков (</a:t>
            </a:r>
            <a:r>
              <a:rPr lang="ru-RU" sz="1600" dirty="0" err="1"/>
              <a:t>pH</a:t>
            </a:r>
            <a:r>
              <a:rPr lang="ru-RU" sz="1600" dirty="0"/>
              <a:t>, импеданс </a:t>
            </a:r>
            <a:r>
              <a:rPr lang="ru-RU" sz="1600" dirty="0" smtClean="0"/>
              <a:t>- </a:t>
            </a:r>
            <a:r>
              <a:rPr lang="ru-RU" sz="1600" dirty="0"/>
              <a:t>как в Стэнфорде)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Усложнение аналитики (простые алгоритмы прогнозирования)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Создание веб-</a:t>
            </a:r>
            <a:r>
              <a:rPr lang="ru-RU" sz="1600" dirty="0" err="1"/>
              <a:t>дашборда</a:t>
            </a:r>
            <a:r>
              <a:rPr lang="ru-RU" sz="1600" dirty="0"/>
              <a:t> для врача с историей измерений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6300191" y="797308"/>
            <a:ext cx="247723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Социальные:</a:t>
            </a: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Участие в конкурсах и конференциях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Публикация статьи о проекте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Возможно </a:t>
            </a:r>
            <a:r>
              <a:rPr lang="ru-RU" sz="1600" dirty="0" smtClean="0"/>
              <a:t>- </a:t>
            </a:r>
            <a:r>
              <a:rPr lang="ru-RU" sz="1600" dirty="0"/>
              <a:t>передача наработок профильным студентам-медикам для развития</a:t>
            </a:r>
          </a:p>
          <a:p>
            <a:r>
              <a:rPr lang="ru-RU" sz="1600" dirty="0"/>
              <a:t/>
            </a:r>
            <a:br>
              <a:rPr lang="ru-RU" sz="1600" dirty="0"/>
            </a:b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23131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тека">
  <a:themeElements>
    <a:clrScheme name="Аптека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Аптека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Аптека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107</TotalTime>
  <Words>741</Words>
  <Application>Microsoft Office PowerPoint</Application>
  <PresentationFormat>Экран (4:3)</PresentationFormat>
  <Paragraphs>138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Аптека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Ns</dc:creator>
  <cp:lastModifiedBy>Ns</cp:lastModifiedBy>
  <cp:revision>34</cp:revision>
  <dcterms:created xsi:type="dcterms:W3CDTF">2026-02-24T16:42:30Z</dcterms:created>
  <dcterms:modified xsi:type="dcterms:W3CDTF">2026-03-14T11:21:52Z</dcterms:modified>
</cp:coreProperties>
</file>